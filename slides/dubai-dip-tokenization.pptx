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4630400" cy="82296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0" y="1828800"/>
            <a:ext cx="118872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200" b="1">
                <a:solidFill>
                  <a:srgbClr val="10B981"/>
                </a:solidFill>
              </a:defRPr>
            </a:pPr>
            <a:r>
              <a:t>DUBAI DIP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3200400"/>
            <a:ext cx="11887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0">
                <a:solidFill>
                  <a:srgbClr val="FFFFFF"/>
                </a:solidFill>
              </a:defRPr>
            </a:pPr>
            <a:r>
              <a:t>Tokenized UAE Equities on Solana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4114800"/>
            <a:ext cx="11887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>
                <a:solidFill>
                  <a:srgbClr val="94A3B8"/>
                </a:solidFill>
              </a:defRPr>
            </a:pPr>
            <a:r>
              <a:t>Structure &amp; Distribution Options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0" y="7498079"/>
            <a:ext cx="14630400" cy="27432"/>
          </a:xfrm>
          <a:prstGeom prst="roundRect">
            <a:avLst>
              <a:gd name="adj" fmla="val 3000"/>
            </a:avLst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758952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4A3B8"/>
                </a:solidFill>
              </a:defRPr>
            </a:pPr>
            <a:r>
              <a:t>dubaidip.xyz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0" y="758952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0">
                <a:solidFill>
                  <a:srgbClr val="94A3B8"/>
                </a:solidFill>
              </a:defRPr>
            </a:pPr>
            <a:r>
              <a:t>Confidential — March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12801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THE OPPORTUNITY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914400"/>
            <a:ext cx="12801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FFFFFF"/>
                </a:solidFill>
              </a:defRPr>
            </a:pPr>
            <a:r>
              <a:t>UAE equities are at crisis-driven discounts.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645920"/>
            <a:ext cx="12801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
                  <a:srgbClr val="94A3B8"/>
                </a:solidFill>
              </a:defRPr>
            </a:pPr>
            <a:r>
              <a:t>Global crypto-native investors want exposure but can't access DFM/ADX easily.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14400" y="2743200"/>
            <a:ext cx="2926080" cy="2011680"/>
          </a:xfrm>
          <a:prstGeom prst="roundRect">
            <a:avLst>
              <a:gd name="adj" fmla="val 3000"/>
            </a:avLst>
          </a:prstGeom>
          <a:solidFill>
            <a:srgbClr val="14141E"/>
          </a:solidFill>
          <a:ln w="12700">
            <a:solidFill>
              <a:srgbClr val="2A2A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88720" y="3017520"/>
            <a:ext cx="23774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10B981"/>
                </a:solidFill>
              </a:defRPr>
            </a:pPr>
            <a:r>
              <a:t>16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88720" y="3840480"/>
            <a:ext cx="23774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94A3B8"/>
                </a:solidFill>
              </a:defRPr>
            </a:pPr>
            <a:r>
              <a:t>UAE Equities</a:t>
            </a:r>
            <a:br/>
            <a:r>
              <a:t>Tracked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206240" y="2743200"/>
            <a:ext cx="2926080" cy="2011680"/>
          </a:xfrm>
          <a:prstGeom prst="roundRect">
            <a:avLst>
              <a:gd name="adj" fmla="val 3000"/>
            </a:avLst>
          </a:prstGeom>
          <a:solidFill>
            <a:srgbClr val="14141E"/>
          </a:solidFill>
          <a:ln w="12700">
            <a:solidFill>
              <a:srgbClr val="2A2A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480560" y="3017520"/>
            <a:ext cx="23774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10B981"/>
                </a:solidFill>
              </a:defRPr>
            </a:pPr>
            <a:r>
              <a:t>-15% to -36%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480560" y="3840480"/>
            <a:ext cx="23774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94A3B8"/>
                </a:solidFill>
              </a:defRPr>
            </a:pPr>
            <a:r>
              <a:t>Drawdown from</a:t>
            </a:r>
            <a:br/>
            <a:r>
              <a:t>Pre-Crisis ATH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498079" y="2743200"/>
            <a:ext cx="2926080" cy="2011680"/>
          </a:xfrm>
          <a:prstGeom prst="roundRect">
            <a:avLst>
              <a:gd name="adj" fmla="val 3000"/>
            </a:avLst>
          </a:prstGeom>
          <a:solidFill>
            <a:srgbClr val="14141E"/>
          </a:solidFill>
          <a:ln w="12700">
            <a:solidFill>
              <a:srgbClr val="2A2A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72399" y="3017520"/>
            <a:ext cx="23774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10B981"/>
                </a:solidFill>
              </a:defRPr>
            </a:pPr>
            <a:r>
              <a:t>$0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399" y="3840480"/>
            <a:ext cx="23774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94A3B8"/>
                </a:solidFill>
              </a:defRPr>
            </a:pPr>
            <a:r>
              <a:t>Minimum for</a:t>
            </a:r>
            <a:br/>
            <a:r>
              <a:t>Onchain Access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0789920" y="2743200"/>
            <a:ext cx="2926080" cy="2011680"/>
          </a:xfrm>
          <a:prstGeom prst="roundRect">
            <a:avLst>
              <a:gd name="adj" fmla="val 3000"/>
            </a:avLst>
          </a:prstGeom>
          <a:solidFill>
            <a:srgbClr val="14141E"/>
          </a:solidFill>
          <a:ln w="12700">
            <a:solidFill>
              <a:srgbClr val="2A2A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1064240" y="3017520"/>
            <a:ext cx="23774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10B981"/>
                </a:solidFill>
              </a:defRPr>
            </a:pPr>
            <a:r>
              <a:t>24/7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064240" y="3840480"/>
            <a:ext cx="23774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94A3B8"/>
                </a:solidFill>
              </a:defRPr>
            </a:pPr>
            <a:r>
              <a:t>Trading on</a:t>
            </a:r>
            <a:br/>
            <a:r>
              <a:t>Solana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14400" y="5303520"/>
            <a:ext cx="12801600" cy="2011680"/>
          </a:xfrm>
          <a:prstGeom prst="roundRect">
            <a:avLst>
              <a:gd name="adj" fmla="val 3000"/>
            </a:avLst>
          </a:prstGeom>
          <a:solidFill>
            <a:srgbClr val="1414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280160" y="5486400"/>
            <a:ext cx="120700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800" b="1">
                <a:solidFill>
                  <a:srgbClr val="F59E0B"/>
                </a:solidFill>
              </a:defRPr>
            </a:pPr>
            <a:r>
              <a:t>The Problem</a:t>
            </a:r>
          </a:p>
          <a:p>
            <a:pPr>
              <a:spcAft>
                <a:spcPts val="400"/>
              </a:spcAft>
              <a:defRPr sz="1600" b="0">
                <a:solidFill>
                  <a:srgbClr val="CBD5E1"/>
                </a:solidFill>
              </a:defRPr>
            </a:pPr>
            <a:r>
              <a:t>Opening a UAE brokerage account requires residency, visa, Emirates ID. International brokers (IBKR, Saxo)</a:t>
            </a:r>
          </a:p>
          <a:p>
            <a:pPr>
              <a:spcAft>
                <a:spcPts val="400"/>
              </a:spcAft>
              <a:defRPr sz="1600" b="0">
                <a:solidFill>
                  <a:srgbClr val="CBD5E1"/>
                </a:solidFill>
              </a:defRPr>
            </a:pPr>
            <a:r>
              <a:t>have limited DFM/ADX coverage and high minimums. Crypto investors sitting on USDC have zero access.</a:t>
            </a:r>
          </a:p>
          <a:p>
            <a:pPr>
              <a:spcAft>
                <a:spcPts val="400"/>
              </a:spcAft>
              <a:defRPr sz="800" b="0">
                <a:solidFill>
                  <a:srgbClr val="94A3B8"/>
                </a:solidFill>
              </a:defRPr>
            </a:pPr>
          </a:p>
          <a:p>
            <a:pPr>
              <a:spcAft>
                <a:spcPts val="400"/>
              </a:spcAft>
              <a:defRPr sz="1600" b="1">
                <a:solidFill>
                  <a:srgbClr val="FFFFFF"/>
                </a:solidFill>
              </a:defRPr>
            </a:pPr>
            <a:r>
              <a:t>The Solution: Tokenize the underlying equities on Solana. Buy with USDC. Instant settlement. No broker needed.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12801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PRECEDENT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914400"/>
            <a:ext cx="12801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FFFFFF"/>
                </a:solidFill>
              </a:defRPr>
            </a:pPr>
            <a:r>
              <a:t>Ondo Finance proved the model.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4400" y="2011680"/>
            <a:ext cx="6217920" cy="5029200"/>
          </a:xfrm>
          <a:prstGeom prst="roundRect">
            <a:avLst>
              <a:gd name="adj" fmla="val 3000"/>
            </a:avLst>
          </a:prstGeom>
          <a:solidFill>
            <a:srgbClr val="14141E"/>
          </a:solidFill>
          <a:ln w="12700">
            <a:solidFill>
              <a:srgbClr val="2A2A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280160" y="2194560"/>
            <a:ext cx="5486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800" b="1">
                <a:solidFill>
                  <a:srgbClr val="38BDF8"/>
                </a:solidFill>
              </a:defRPr>
            </a:pPr>
            <a:r>
              <a:t>Ondo Global Markets Structure</a:t>
            </a:r>
          </a:p>
          <a:p>
            <a:pPr>
              <a:spcAft>
                <a:spcPts val="400"/>
              </a:spcAft>
              <a:defRPr sz="600" b="0">
                <a:solidFill>
                  <a:srgbClr val="94A3B8"/>
                </a:solidFill>
              </a:defRPr>
            </a:pPr>
          </a:p>
          <a:p>
            <a:pPr>
              <a:spcAft>
                <a:spcPts val="400"/>
              </a:spcAft>
              <a:defRPr sz="1600" b="0">
                <a:solidFill>
                  <a:srgbClr val="FFFFFF"/>
                </a:solidFill>
              </a:defRPr>
            </a:pPr>
            <a:r>
              <a:t>Issuer:  BVI SPV</a:t>
            </a:r>
          </a:p>
          <a:p>
            <a:pPr>
              <a:spcAft>
                <a:spcPts val="400"/>
              </a:spcAft>
              <a:defRPr sz="1600" b="0">
                <a:solidFill>
                  <a:srgbClr val="FFFFFF"/>
                </a:solidFill>
              </a:defRPr>
            </a:pPr>
            <a:r>
              <a:t>Governing Law:  Swiss</a:t>
            </a:r>
          </a:p>
          <a:p>
            <a:pPr>
              <a:spcAft>
                <a:spcPts val="400"/>
              </a:spcAft>
              <a:defRPr sz="1600" b="0">
                <a:solidFill>
                  <a:srgbClr val="FFFFFF"/>
                </a:solidFill>
              </a:defRPr>
            </a:pPr>
            <a:r>
              <a:t>Custody:  Regulated broker-dealer</a:t>
            </a:r>
          </a:p>
          <a:p>
            <a:pPr>
              <a:spcAft>
                <a:spcPts val="400"/>
              </a:spcAft>
              <a:defRPr sz="1600" b="0">
                <a:solidFill>
                  <a:srgbClr val="FFFFFF"/>
                </a:solidFill>
              </a:defRPr>
            </a:pPr>
            <a:r>
              <a:t>Chains:  Ethereum → BNB → Solana</a:t>
            </a:r>
          </a:p>
          <a:p>
            <a:pPr>
              <a:spcAft>
                <a:spcPts val="400"/>
              </a:spcAft>
              <a:defRPr sz="1600" b="0">
                <a:solidFill>
                  <a:srgbClr val="FFFFFF"/>
                </a:solidFill>
              </a:defRPr>
            </a:pPr>
            <a:r>
              <a:t>Assets:  200+ US stocks &amp; ETFs</a:t>
            </a:r>
          </a:p>
          <a:p>
            <a:pPr>
              <a:spcAft>
                <a:spcPts val="400"/>
              </a:spcAft>
              <a:defRPr sz="600" b="0">
                <a:solidFill>
                  <a:srgbClr val="94A3B8"/>
                </a:solidFill>
              </a:defRPr>
            </a:pPr>
          </a:p>
          <a:p>
            <a:pPr>
              <a:spcAft>
                <a:spcPts val="400"/>
              </a:spcAft>
              <a:defRPr sz="1600" b="1">
                <a:solidFill>
                  <a:srgbClr val="10B981"/>
                </a:solidFill>
              </a:defRPr>
            </a:pPr>
            <a:r>
              <a:t>ADGM Approval (Mar 3, 2026)</a:t>
            </a:r>
          </a:p>
          <a:p>
            <a:pPr>
              <a:spcAft>
                <a:spcPts val="400"/>
              </a:spcAft>
              <a:defRPr sz="1400" b="0">
                <a:solidFill>
                  <a:srgbClr val="94A3B8"/>
                </a:solidFill>
              </a:defRPr>
            </a:pPr>
            <a:r>
              <a:t>First-ever tokenized securities approval in Abu Dhabi.</a:t>
            </a:r>
          </a:p>
          <a:p>
            <a:pPr>
              <a:spcAft>
                <a:spcPts val="400"/>
              </a:spcAft>
              <a:defRPr sz="1400" b="0">
                <a:solidFill>
                  <a:srgbClr val="94A3B8"/>
                </a:solidFill>
              </a:defRPr>
            </a:pPr>
            <a:r>
              <a:t>Allows UAE institutions to trade via Binance's MTF.</a:t>
            </a:r>
          </a:p>
          <a:p>
            <a:pPr>
              <a:spcAft>
                <a:spcPts val="400"/>
              </a:spcAft>
              <a:defRPr sz="600" b="0">
                <a:solidFill>
                  <a:srgbClr val="94A3B8"/>
                </a:solidFill>
              </a:defRPr>
            </a:pPr>
          </a:p>
          <a:p>
            <a:pPr>
              <a:spcAft>
                <a:spcPts val="400"/>
              </a:spcAft>
              <a:defRPr sz="1400" b="1">
                <a:solidFill>
                  <a:srgbClr val="F59E0B"/>
                </a:solidFill>
              </a:defRPr>
            </a:pPr>
            <a:r>
              <a:t>Key insight: ADGM is the distribution approval layer.</a:t>
            </a:r>
          </a:p>
          <a:p>
            <a:pPr>
              <a:spcAft>
                <a:spcPts val="400"/>
              </a:spcAft>
              <a:defRPr sz="1400" b="0">
                <a:solidFill>
                  <a:srgbClr val="94A3B8"/>
                </a:solidFill>
              </a:defRPr>
            </a:pPr>
            <a:r>
              <a:t>The issuer entity sits offshore (BVI). UAE is just where</a:t>
            </a:r>
          </a:p>
          <a:p>
            <a:pPr>
              <a:spcAft>
                <a:spcPts val="400"/>
              </a:spcAft>
              <a:defRPr sz="1400" b="0">
                <a:solidFill>
                  <a:srgbClr val="94A3B8"/>
                </a:solidFill>
              </a:defRPr>
            </a:pPr>
            <a:r>
              <a:t>institutions access it — not where it's created.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498079" y="2011680"/>
            <a:ext cx="6217920" cy="5029200"/>
          </a:xfrm>
          <a:prstGeom prst="roundRect">
            <a:avLst>
              <a:gd name="adj" fmla="val 3000"/>
            </a:avLst>
          </a:prstGeom>
          <a:solidFill>
            <a:srgbClr val="14141E"/>
          </a:solidFill>
          <a:ln w="12700">
            <a:solidFill>
              <a:srgbClr val="2A2A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863840" y="2194560"/>
            <a:ext cx="5486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800" b="1">
                <a:solidFill>
                  <a:srgbClr val="10B981"/>
                </a:solidFill>
              </a:defRPr>
            </a:pPr>
            <a:r>
              <a:t>Dubai Dip — Same Playbook</a:t>
            </a:r>
          </a:p>
          <a:p>
            <a:pPr>
              <a:spcAft>
                <a:spcPts val="400"/>
              </a:spcAft>
              <a:defRPr sz="600" b="0">
                <a:solidFill>
                  <a:srgbClr val="94A3B8"/>
                </a:solidFill>
              </a:defRPr>
            </a:pPr>
          </a:p>
          <a:p>
            <a:pPr>
              <a:spcAft>
                <a:spcPts val="400"/>
              </a:spcAft>
              <a:defRPr sz="1600" b="0">
                <a:solidFill>
                  <a:srgbClr val="FFFFFF"/>
                </a:solidFill>
              </a:defRPr>
            </a:pPr>
            <a:r>
              <a:t>Issuer:  BVI SPV (to be formed)</a:t>
            </a:r>
          </a:p>
          <a:p>
            <a:pPr>
              <a:spcAft>
                <a:spcPts val="400"/>
              </a:spcAft>
              <a:defRPr sz="1600" b="0">
                <a:solidFill>
                  <a:srgbClr val="FFFFFF"/>
                </a:solidFill>
              </a:defRPr>
            </a:pPr>
            <a:r>
              <a:t>Governing Law:  BVI / English</a:t>
            </a:r>
          </a:p>
          <a:p>
            <a:pPr>
              <a:spcAft>
                <a:spcPts val="400"/>
              </a:spcAft>
              <a:defRPr sz="1600" b="0">
                <a:solidFill>
                  <a:srgbClr val="FFFFFF"/>
                </a:solidFill>
              </a:defRPr>
            </a:pPr>
            <a:r>
              <a:t>Custody:  Regulated UAE broker</a:t>
            </a:r>
          </a:p>
          <a:p>
            <a:pPr>
              <a:spcAft>
                <a:spcPts val="400"/>
              </a:spcAft>
              <a:defRPr sz="1600" b="0">
                <a:solidFill>
                  <a:srgbClr val="FFFFFF"/>
                </a:solidFill>
              </a:defRPr>
            </a:pPr>
            <a:r>
              <a:t>Chain:  Solana</a:t>
            </a:r>
          </a:p>
          <a:p>
            <a:pPr>
              <a:spcAft>
                <a:spcPts val="400"/>
              </a:spcAft>
              <a:defRPr sz="1600" b="0">
                <a:solidFill>
                  <a:srgbClr val="FFFFFF"/>
                </a:solidFill>
              </a:defRPr>
            </a:pPr>
            <a:r>
              <a:t>Assets:  16 UAE equities (DFM + ADX)</a:t>
            </a:r>
          </a:p>
          <a:p>
            <a:pPr>
              <a:spcAft>
                <a:spcPts val="400"/>
              </a:spcAft>
              <a:defRPr sz="600" b="0">
                <a:solidFill>
                  <a:srgbClr val="94A3B8"/>
                </a:solidFill>
              </a:defRPr>
            </a:pPr>
          </a:p>
          <a:p>
            <a:pPr>
              <a:spcAft>
                <a:spcPts val="400"/>
              </a:spcAft>
              <a:defRPr sz="1600" b="1">
                <a:solidFill>
                  <a:srgbClr val="F59E0B"/>
                </a:solidFill>
              </a:defRPr>
            </a:pPr>
            <a:r>
              <a:t>What's Different</a:t>
            </a:r>
          </a:p>
          <a:p>
            <a:pPr>
              <a:spcAft>
                <a:spcPts val="400"/>
              </a:spcAft>
              <a:defRPr sz="1400" b="0">
                <a:solidFill>
                  <a:srgbClr val="FFFFFF"/>
                </a:solidFill>
              </a:defRPr>
            </a:pPr>
            <a:r>
              <a:t>→ Underlying = UAE equities (not US)</a:t>
            </a:r>
          </a:p>
          <a:p>
            <a:pPr>
              <a:spcAft>
                <a:spcPts val="400"/>
              </a:spcAft>
              <a:defRPr sz="1400" b="0">
                <a:solidFill>
                  <a:srgbClr val="FFFFFF"/>
                </a:solidFill>
              </a:defRPr>
            </a:pPr>
            <a:r>
              <a:t>→ Thesis-driven: crisis discount</a:t>
            </a:r>
          </a:p>
          <a:p>
            <a:pPr>
              <a:spcAft>
                <a:spcPts val="400"/>
              </a:spcAft>
              <a:defRPr sz="1400" b="0">
                <a:solidFill>
                  <a:srgbClr val="FFFFFF"/>
                </a:solidFill>
              </a:defRPr>
            </a:pPr>
            <a:r>
              <a:t>→ Crypto-native distribution first</a:t>
            </a:r>
          </a:p>
          <a:p>
            <a:pPr>
              <a:spcAft>
                <a:spcPts val="400"/>
              </a:spcAft>
              <a:defRPr sz="1400" b="0">
                <a:solidFill>
                  <a:srgbClr val="FFFFFF"/>
                </a:solidFill>
              </a:defRPr>
            </a:pPr>
            <a:r>
              <a:t>→ No UAE exchange needed for v1</a:t>
            </a:r>
          </a:p>
          <a:p>
            <a:pPr>
              <a:spcAft>
                <a:spcPts val="400"/>
              </a:spcAft>
              <a:defRPr sz="1400" b="0">
                <a:solidFill>
                  <a:srgbClr val="FFFFFF"/>
                </a:solidFill>
              </a:defRPr>
            </a:pPr>
            <a:r>
              <a:t>→ Institutional (ADGM) wrapper = Phase 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12801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OPTION A — RECOMMENDED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914400"/>
            <a:ext cx="12801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</a:defRPr>
            </a:pPr>
            <a:r>
              <a:t>Offshore-First: BVI SPV + Solana Distribution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554480"/>
            <a:ext cx="12801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94A3B8"/>
                </a:solidFill>
              </a:defRPr>
            </a:pPr>
            <a:r>
              <a:t>Fastest path. No UAE licensing required. Ondo-proven structure.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2377440"/>
            <a:ext cx="2468880" cy="3840480"/>
          </a:xfrm>
          <a:prstGeom prst="roundRect">
            <a:avLst>
              <a:gd name="adj" fmla="val 3000"/>
            </a:avLst>
          </a:prstGeom>
          <a:solidFill>
            <a:srgbClr val="14141E"/>
          </a:solidFill>
          <a:ln w="1270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2560320"/>
            <a:ext cx="2103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8B5CF6"/>
                </a:solidFill>
              </a:defRPr>
            </a:pPr>
            <a:r>
              <a:t>1. FORM SPV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3200400"/>
            <a:ext cx="210312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CBD5E1"/>
                </a:solidFill>
              </a:defRPr>
            </a:pPr>
            <a:r>
              <a:t>BVI Company</a:t>
            </a:r>
            <a:br/>
            <a:br/>
            <a:r>
              <a:t>Issues tokenized</a:t>
            </a:r>
            <a:br/>
            <a:r>
              <a:t>notes/certificates</a:t>
            </a:r>
            <a:br/>
            <a:r>
              <a:t>representing UAE</a:t>
            </a:r>
            <a:br/>
            <a:r>
              <a:t>equity exposure</a:t>
            </a:r>
          </a:p>
        </p:txBody>
      </p:sp>
      <p:sp>
        <p:nvSpPr>
          <p:cNvPr id="8" name="Right Arrow 7"/>
          <p:cNvSpPr/>
          <p:nvPr/>
        </p:nvSpPr>
        <p:spPr>
          <a:xfrm>
            <a:off x="2971800" y="4023360"/>
            <a:ext cx="274320" cy="274320"/>
          </a:xfrm>
          <a:prstGeom prst="rightArrow">
            <a:avLst/>
          </a:prstGeom>
          <a:solidFill>
            <a:srgbClr val="3A3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3291840" y="2377440"/>
            <a:ext cx="2468880" cy="3840480"/>
          </a:xfrm>
          <a:prstGeom prst="roundRect">
            <a:avLst>
              <a:gd name="adj" fmla="val 3000"/>
            </a:avLst>
          </a:prstGeom>
          <a:solidFill>
            <a:srgbClr val="14141E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474720" y="2560320"/>
            <a:ext cx="2103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38BDF8"/>
                </a:solidFill>
              </a:defRPr>
            </a:pPr>
            <a:r>
              <a:t>2. RAISE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474720" y="3200400"/>
            <a:ext cx="210312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CBD5E1"/>
                </a:solidFill>
              </a:defRPr>
            </a:pPr>
            <a:r>
              <a:t>Investor USDC</a:t>
            </a:r>
            <a:br/>
            <a:r>
              <a:t>→ SPV</a:t>
            </a:r>
            <a:br/>
            <a:br/>
            <a:r>
              <a:t>Eligible non-UAE</a:t>
            </a:r>
            <a:br/>
            <a:r>
              <a:t>investors subscribe</a:t>
            </a:r>
            <a:br/>
            <a:r>
              <a:t>via dubaidip.xyz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5806440" y="4023360"/>
            <a:ext cx="274320" cy="274320"/>
          </a:xfrm>
          <a:prstGeom prst="rightArrow">
            <a:avLst/>
          </a:prstGeom>
          <a:solidFill>
            <a:srgbClr val="3A3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126480" y="2377440"/>
            <a:ext cx="2468880" cy="3840480"/>
          </a:xfrm>
          <a:prstGeom prst="roundRect">
            <a:avLst>
              <a:gd name="adj" fmla="val 3000"/>
            </a:avLst>
          </a:prstGeom>
          <a:solidFill>
            <a:srgbClr val="14141E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09360" y="2560320"/>
            <a:ext cx="2103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10B981"/>
                </a:solidFill>
              </a:defRPr>
            </a:pPr>
            <a:r>
              <a:t>3. BUY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09360" y="3200400"/>
            <a:ext cx="210312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CBD5E1"/>
                </a:solidFill>
              </a:defRPr>
            </a:pPr>
            <a:r>
              <a:t>SPV → Broker</a:t>
            </a:r>
            <a:br/>
            <a:r>
              <a:t>→ DFM/ADX</a:t>
            </a:r>
            <a:br/>
            <a:br/>
            <a:r>
              <a:t>SPV purchases</a:t>
            </a:r>
            <a:br/>
            <a:r>
              <a:t>underlying equities</a:t>
            </a:r>
            <a:br/>
            <a:r>
              <a:t>through regulated</a:t>
            </a:r>
            <a:br/>
            <a:r>
              <a:t>broker</a:t>
            </a:r>
          </a:p>
        </p:txBody>
      </p:sp>
      <p:sp>
        <p:nvSpPr>
          <p:cNvPr id="16" name="Right Arrow 15"/>
          <p:cNvSpPr/>
          <p:nvPr/>
        </p:nvSpPr>
        <p:spPr>
          <a:xfrm>
            <a:off x="8641080" y="4023360"/>
            <a:ext cx="274320" cy="274320"/>
          </a:xfrm>
          <a:prstGeom prst="rightArrow">
            <a:avLst/>
          </a:prstGeom>
          <a:solidFill>
            <a:srgbClr val="3A3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8961120" y="2377440"/>
            <a:ext cx="2468880" cy="3840480"/>
          </a:xfrm>
          <a:prstGeom prst="roundRect">
            <a:avLst>
              <a:gd name="adj" fmla="val 3000"/>
            </a:avLst>
          </a:prstGeom>
          <a:solidFill>
            <a:srgbClr val="14141E"/>
          </a:solidFill>
          <a:ln w="127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0" y="2560320"/>
            <a:ext cx="2103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F59E0B"/>
                </a:solidFill>
              </a:defRPr>
            </a:pPr>
            <a:r>
              <a:t>4. TOKENIZE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0" y="3200400"/>
            <a:ext cx="210312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CBD5E1"/>
                </a:solidFill>
              </a:defRPr>
            </a:pPr>
            <a:r>
              <a:t>Mint on Solana</a:t>
            </a:r>
            <a:br/>
            <a:br/>
            <a:r>
              <a:t>SPL tokens issued</a:t>
            </a:r>
            <a:br/>
            <a:r>
              <a:t>1:1 against held</a:t>
            </a:r>
            <a:br/>
            <a:r>
              <a:t>equities. Oracle</a:t>
            </a:r>
            <a:br/>
            <a:r>
              <a:t>feeds live NAV.</a:t>
            </a:r>
          </a:p>
        </p:txBody>
      </p:sp>
      <p:sp>
        <p:nvSpPr>
          <p:cNvPr id="20" name="Right Arrow 19"/>
          <p:cNvSpPr/>
          <p:nvPr/>
        </p:nvSpPr>
        <p:spPr>
          <a:xfrm>
            <a:off x="11475720" y="4023360"/>
            <a:ext cx="274320" cy="274320"/>
          </a:xfrm>
          <a:prstGeom prst="rightArrow">
            <a:avLst/>
          </a:prstGeom>
          <a:solidFill>
            <a:srgbClr val="3A3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11795760" y="2377440"/>
            <a:ext cx="2468880" cy="3840480"/>
          </a:xfrm>
          <a:prstGeom prst="roundRect">
            <a:avLst>
              <a:gd name="adj" fmla="val 3000"/>
            </a:avLst>
          </a:prstGeom>
          <a:solidFill>
            <a:srgbClr val="14141E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1978640" y="2560320"/>
            <a:ext cx="2103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10B981"/>
                </a:solidFill>
              </a:defRPr>
            </a:pPr>
            <a:r>
              <a:t>5. TRADE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978640" y="3200400"/>
            <a:ext cx="210312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CBD5E1"/>
                </a:solidFill>
              </a:defRPr>
            </a:pPr>
            <a:r>
              <a:t>Global Access</a:t>
            </a:r>
            <a:br/>
            <a:br/>
            <a:r>
              <a:t>Holders trade tokens</a:t>
            </a:r>
            <a:br/>
            <a:r>
              <a:t>24/7 on Solana DEXs.</a:t>
            </a:r>
            <a:br/>
            <a:r>
              <a:t>Redeem for underlying</a:t>
            </a:r>
            <a:br/>
            <a:r>
              <a:t>via SPV.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57200" y="6583680"/>
            <a:ext cx="6583680" cy="1188720"/>
          </a:xfrm>
          <a:prstGeom prst="roundRect">
            <a:avLst>
              <a:gd name="adj" fmla="val 3000"/>
            </a:avLst>
          </a:prstGeom>
          <a:solidFill>
            <a:srgbClr val="1414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31520" y="6675120"/>
            <a:ext cx="60350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400" b="1">
                <a:solidFill>
                  <a:srgbClr val="10B981"/>
                </a:solidFill>
              </a:defRPr>
            </a:pPr>
            <a:r>
              <a:t>✅  Advantages</a:t>
            </a:r>
          </a:p>
          <a:p>
            <a:pPr>
              <a:spcAft>
                <a:spcPts val="400"/>
              </a:spcAft>
              <a:defRPr sz="1300" b="0">
                <a:solidFill>
                  <a:srgbClr val="CBD5E1"/>
                </a:solidFill>
              </a:defRPr>
            </a:pPr>
            <a:r>
              <a:t>No UAE license needed • Fastest launch • Global reach • Low regulatory overhead • Proven by Ondo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589520" y="6583680"/>
            <a:ext cx="6583680" cy="1188720"/>
          </a:xfrm>
          <a:prstGeom prst="roundRect">
            <a:avLst>
              <a:gd name="adj" fmla="val 3000"/>
            </a:avLst>
          </a:prstGeom>
          <a:solidFill>
            <a:srgbClr val="1414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863840" y="6675120"/>
            <a:ext cx="60350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400" b="1">
                <a:solidFill>
                  <a:srgbClr val="F59E0B"/>
                </a:solidFill>
              </a:defRPr>
            </a:pPr>
            <a:r>
              <a:t>⚠️  Considerations</a:t>
            </a:r>
          </a:p>
          <a:p>
            <a:pPr>
              <a:spcAft>
                <a:spcPts val="400"/>
              </a:spcAft>
              <a:defRPr sz="1300" b="0">
                <a:solidFill>
                  <a:srgbClr val="CBD5E1"/>
                </a:solidFill>
              </a:defRPr>
            </a:pPr>
            <a:r>
              <a:t>BVI setup ~$5-10K • Need custodial broker with DFM/ADX access • UAE residents may be geo-fenced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12801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38BDF8"/>
                </a:solidFill>
              </a:defRPr>
            </a:pPr>
            <a:r>
              <a:t>OPTION B — UAE EXCHANGE PARTNER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914400"/>
            <a:ext cx="12801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</a:defRPr>
            </a:pPr>
            <a:r>
              <a:t>Partner with a Regulated UAE Exchange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554480"/>
            <a:ext cx="12801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94A3B8"/>
                </a:solidFill>
              </a:defRPr>
            </a:pPr>
            <a:r>
              <a:t>Higher credibility. Institutional access. Slower path.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286000"/>
            <a:ext cx="4206240" cy="4114800"/>
          </a:xfrm>
          <a:prstGeom prst="roundRect">
            <a:avLst>
              <a:gd name="adj" fmla="val 3000"/>
            </a:avLst>
          </a:prstGeom>
          <a:solidFill>
            <a:srgbClr val="14141E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2468880"/>
            <a:ext cx="3657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38BDF8"/>
                </a:solidFill>
              </a:defRPr>
            </a:pPr>
            <a:r>
              <a:t>Bybit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292608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4A3B8"/>
                </a:solidFill>
              </a:defRPr>
            </a:pPr>
            <a:r>
              <a:t>Federal UAE Approval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347472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BD5E1"/>
                </a:solidFill>
              </a:defRPr>
            </a:pPr>
            <a:r>
              <a:t>→  Bybit holds federal-level UAE approval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393192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BD5E1"/>
                </a:solidFill>
              </a:defRPr>
            </a:pPr>
            <a:r>
              <a:t>→  Could list tokenized UAE equities on their platform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438912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BD5E1"/>
                </a:solidFill>
              </a:defRPr>
            </a:pPr>
            <a:r>
              <a:t>→  Large existing crypto user base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484632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BD5E1"/>
                </a:solidFill>
              </a:defRPr>
            </a:pPr>
            <a:r>
              <a:t>→  Would need commercial partnership deal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530352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BD5E1"/>
                </a:solidFill>
              </a:defRPr>
            </a:pPr>
            <a:r>
              <a:t>→  Bybit handles compliance / KYC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303520" y="2286000"/>
            <a:ext cx="4206240" cy="4114800"/>
          </a:xfrm>
          <a:prstGeom prst="roundRect">
            <a:avLst>
              <a:gd name="adj" fmla="val 3000"/>
            </a:avLst>
          </a:prstGeom>
          <a:solidFill>
            <a:srgbClr val="14141E"/>
          </a:solidFill>
          <a:ln w="1270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577840" y="2468880"/>
            <a:ext cx="3657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8B5CF6"/>
                </a:solidFill>
              </a:defRPr>
            </a:pPr>
            <a:r>
              <a:t>Bahrain Exchange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577840" y="292608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4A3B8"/>
                </a:solidFill>
              </a:defRPr>
            </a:pPr>
            <a:r>
              <a:t>CBB Licensed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577840" y="347472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BD5E1"/>
                </a:solidFill>
              </a:defRPr>
            </a:pPr>
            <a:r>
              <a:t>→  Friendly exchange already holds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577840" y="393192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BD5E1"/>
                </a:solidFill>
              </a:defRPr>
            </a:pPr>
            <a:r>
              <a:t>→  Central Bank of Bahrain approval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577840" y="438912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BD5E1"/>
                </a:solidFill>
              </a:defRPr>
            </a:pPr>
            <a:r>
              <a:t>→  Existing crypto-securities framework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577840" y="484632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BD5E1"/>
                </a:solidFill>
              </a:defRPr>
            </a:pPr>
            <a:r>
              <a:t>→  Faster than getting new UAE license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577840" y="530352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BD5E1"/>
                </a:solidFill>
              </a:defRPr>
            </a:pPr>
            <a:r>
              <a:t>→  Bahrain = lighter regulatory touch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875520" y="2286000"/>
            <a:ext cx="4206240" cy="4114800"/>
          </a:xfrm>
          <a:prstGeom prst="roundRect">
            <a:avLst>
              <a:gd name="adj" fmla="val 3000"/>
            </a:avLst>
          </a:prstGeom>
          <a:solidFill>
            <a:srgbClr val="14141E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149840" y="2468880"/>
            <a:ext cx="3657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10B981"/>
                </a:solidFill>
              </a:defRPr>
            </a:pPr>
            <a:r>
              <a:t>Regulated Broker Clients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149840" y="292608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4A3B8"/>
                </a:solidFill>
              </a:defRPr>
            </a:pPr>
            <a:r>
              <a:t>Existing Licensees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149840" y="347472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BD5E1"/>
                </a:solidFill>
              </a:defRPr>
            </a:pPr>
            <a:r>
              <a:t>→  Lawyer's clients: licensed brokers/exchanges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149840" y="393192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BD5E1"/>
                </a:solidFill>
              </a:defRPr>
            </a:pPr>
            <a:r>
              <a:t>→  Already have distribution infrastructure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149840" y="438912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BD5E1"/>
                </a:solidFill>
              </a:defRPr>
            </a:pPr>
            <a:r>
              <a:t>→  Could white-label the product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149840" y="484632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BD5E1"/>
                </a:solidFill>
              </a:defRPr>
            </a:pPr>
            <a:r>
              <a:t>→  Brings existing institutional client base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149840" y="530352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BD5E1"/>
                </a:solidFill>
              </a:defRPr>
            </a:pPr>
            <a:r>
              <a:t>→  Revenue share model possible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731520" y="6766560"/>
            <a:ext cx="13167360" cy="914400"/>
          </a:xfrm>
          <a:prstGeom prst="roundRect">
            <a:avLst>
              <a:gd name="adj" fmla="val 3000"/>
            </a:avLst>
          </a:prstGeom>
          <a:solidFill>
            <a:srgbClr val="1414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05840" y="6858000"/>
            <a:ext cx="12618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500" b="1">
                <a:solidFill>
                  <a:srgbClr val="F59E0B"/>
                </a:solidFill>
              </a:defRPr>
            </a:pPr>
            <a:r>
              <a:t>💡  Option B is about distribution, not issuance.</a:t>
            </a:r>
          </a:p>
          <a:p>
            <a:pPr>
              <a:spcAft>
                <a:spcPts val="400"/>
              </a:spcAft>
              <a:defRPr sz="1300" b="0">
                <a:solidFill>
                  <a:srgbClr val="CBD5E1"/>
                </a:solidFill>
              </a:defRPr>
            </a:pPr>
            <a:r>
              <a:t>The BVI SPV still issues the tokens. A UAE/Bahrain exchange partner provides the regulated distribution channel for institutional investors.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12801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OPTION C — HYBRID (RECOMMENDED PATH)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914400"/>
            <a:ext cx="12801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</a:defRPr>
            </a:pPr>
            <a:r>
              <a:t>Launch Offshore, Add UAE Distribution Later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2011680"/>
            <a:ext cx="4389120" cy="4572000"/>
          </a:xfrm>
          <a:prstGeom prst="roundRect">
            <a:avLst>
              <a:gd name="adj" fmla="val 3000"/>
            </a:avLst>
          </a:prstGeom>
          <a:solidFill>
            <a:srgbClr val="14141E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2194560"/>
            <a:ext cx="3840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0B981"/>
                </a:solidFill>
              </a:defRPr>
            </a:pPr>
            <a:r>
              <a:t>PHASE 1: NOW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651760"/>
            <a:ext cx="3840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4A3B8"/>
                </a:solidFill>
              </a:defRPr>
            </a:pPr>
            <a:r>
              <a:t>Weeks 1-4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3200400"/>
            <a:ext cx="3840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BD5E1"/>
                </a:solidFill>
              </a:defRPr>
            </a:pPr>
            <a:r>
              <a:t>•  Form BVI SPV ($5-10K, 2 weeks)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611880"/>
            <a:ext cx="3840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BD5E1"/>
                </a:solidFill>
              </a:defRPr>
            </a:pPr>
            <a:r>
              <a:t>•  Open custodial broker account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4023360"/>
            <a:ext cx="3840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BD5E1"/>
                </a:solidFill>
              </a:defRPr>
            </a:pPr>
            <a:r>
              <a:t>•  Build Solana token program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4434840"/>
            <a:ext cx="3840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BD5E1"/>
                </a:solidFill>
              </a:defRPr>
            </a:pPr>
            <a:r>
              <a:t>•  Soft launch via dubaidip.xyz waitlist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4846320"/>
            <a:ext cx="3840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BD5E1"/>
                </a:solidFill>
              </a:defRPr>
            </a:pPr>
            <a:r>
              <a:t>•  Seed round: raise initial USDC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" y="5486400"/>
            <a:ext cx="4023360" cy="822960"/>
          </a:xfrm>
          <a:prstGeom prst="roundRect">
            <a:avLst>
              <a:gd name="adj" fmla="val 3000"/>
            </a:avLst>
          </a:prstGeom>
          <a:solidFill>
            <a:srgbClr val="1A1A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60" y="5577840"/>
            <a:ext cx="3657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10B981"/>
                </a:solidFill>
              </a:defRPr>
            </a:pPr>
            <a:r>
              <a:t>Launch with crypto-native</a:t>
            </a:r>
            <a:br/>
            <a:r>
              <a:t>distribution only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212080" y="2011680"/>
            <a:ext cx="4389120" cy="4572000"/>
          </a:xfrm>
          <a:prstGeom prst="roundRect">
            <a:avLst>
              <a:gd name="adj" fmla="val 3000"/>
            </a:avLst>
          </a:prstGeom>
          <a:solidFill>
            <a:srgbClr val="14141E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486400" y="2194560"/>
            <a:ext cx="3840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38BDF8"/>
                </a:solidFill>
              </a:defRPr>
            </a:pPr>
            <a:r>
              <a:t>PHASE 2: SCALE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2651760"/>
            <a:ext cx="3840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4A3B8"/>
                </a:solidFill>
              </a:defRPr>
            </a:pPr>
            <a:r>
              <a:t>Months 2-4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0" y="3200400"/>
            <a:ext cx="3840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BD5E1"/>
                </a:solidFill>
              </a:defRPr>
            </a:pPr>
            <a:r>
              <a:t>•  Onboard 100+ holders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0" y="3611880"/>
            <a:ext cx="3840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BD5E1"/>
                </a:solidFill>
              </a:defRPr>
            </a:pPr>
            <a:r>
              <a:t>•  Add more UAE equities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0" y="4023360"/>
            <a:ext cx="3840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BD5E1"/>
                </a:solidFill>
              </a:defRPr>
            </a:pPr>
            <a:r>
              <a:t>•  Integrate Solana DEX liquidity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0" y="4434840"/>
            <a:ext cx="3840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BD5E1"/>
                </a:solidFill>
              </a:defRPr>
            </a:pPr>
            <a:r>
              <a:t>•  Pyth/Switchboard oracle for NAV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0" y="4846320"/>
            <a:ext cx="3840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BD5E1"/>
                </a:solidFill>
              </a:defRPr>
            </a:pPr>
            <a:r>
              <a:t>•  Approach exchange partners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394960" y="5486400"/>
            <a:ext cx="4023360" cy="822960"/>
          </a:xfrm>
          <a:prstGeom prst="roundRect">
            <a:avLst>
              <a:gd name="adj" fmla="val 3000"/>
            </a:avLst>
          </a:prstGeom>
          <a:solidFill>
            <a:srgbClr val="1A1A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577840" y="5577840"/>
            <a:ext cx="3657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38BDF8"/>
                </a:solidFill>
              </a:defRPr>
            </a:pPr>
            <a:r>
              <a:t>Prove demand with</a:t>
            </a:r>
            <a:br/>
            <a:r>
              <a:t>onchain traction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966960" y="2011680"/>
            <a:ext cx="4389120" cy="4572000"/>
          </a:xfrm>
          <a:prstGeom prst="roundRect">
            <a:avLst>
              <a:gd name="adj" fmla="val 3000"/>
            </a:avLst>
          </a:prstGeom>
          <a:solidFill>
            <a:srgbClr val="14141E"/>
          </a:solidFill>
          <a:ln w="1270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241280" y="2194560"/>
            <a:ext cx="3840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8B5CF6"/>
                </a:solidFill>
              </a:defRPr>
            </a:pPr>
            <a:r>
              <a:t>PHASE 3: INSTITUTIONAL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241280" y="2651760"/>
            <a:ext cx="3840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4A3B8"/>
                </a:solidFill>
              </a:defRPr>
            </a:pPr>
            <a:r>
              <a:t>Months 4-8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241280" y="3200400"/>
            <a:ext cx="3840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BD5E1"/>
                </a:solidFill>
              </a:defRPr>
            </a:pPr>
            <a:r>
              <a:t>•  Partner with UAE/Bahrain exchange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241280" y="3611880"/>
            <a:ext cx="3840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BD5E1"/>
                </a:solidFill>
              </a:defRPr>
            </a:pPr>
            <a:r>
              <a:t>•  ADGM distribution approval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241280" y="4023360"/>
            <a:ext cx="3840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BD5E1"/>
                </a:solidFill>
              </a:defRPr>
            </a:pPr>
            <a:r>
              <a:t>•  Family office / SWF access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241280" y="4434840"/>
            <a:ext cx="3840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BD5E1"/>
                </a:solidFill>
              </a:defRPr>
            </a:pPr>
            <a:r>
              <a:t>•  Expand to GCC equities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241280" y="4846320"/>
            <a:ext cx="3840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BD5E1"/>
                </a:solidFill>
              </a:defRPr>
            </a:pPr>
            <a:r>
              <a:t>•  Revenue: mgmt fee + spread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10149840" y="5486400"/>
            <a:ext cx="4023360" cy="822960"/>
          </a:xfrm>
          <a:prstGeom prst="roundRect">
            <a:avLst>
              <a:gd name="adj" fmla="val 3000"/>
            </a:avLst>
          </a:prstGeom>
          <a:solidFill>
            <a:srgbClr val="1A1A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0332720" y="5577840"/>
            <a:ext cx="3657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8B5CF6"/>
                </a:solidFill>
              </a:defRPr>
            </a:pPr>
            <a:r>
              <a:t>Add regulated wrapper</a:t>
            </a:r>
            <a:br/>
            <a:r>
              <a:t>for institutional AUM</a:t>
            </a:r>
          </a:p>
        </p:txBody>
      </p:sp>
      <p:sp>
        <p:nvSpPr>
          <p:cNvPr id="34" name="Right Arrow 33"/>
          <p:cNvSpPr/>
          <p:nvPr/>
        </p:nvSpPr>
        <p:spPr>
          <a:xfrm>
            <a:off x="4892040" y="4114800"/>
            <a:ext cx="320040" cy="274320"/>
          </a:xfrm>
          <a:prstGeom prst="rightArrow">
            <a:avLst/>
          </a:prstGeom>
          <a:solidFill>
            <a:srgbClr val="3A3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ight Arrow 34"/>
          <p:cNvSpPr/>
          <p:nvPr/>
        </p:nvSpPr>
        <p:spPr>
          <a:xfrm>
            <a:off x="9646920" y="4114800"/>
            <a:ext cx="320040" cy="274320"/>
          </a:xfrm>
          <a:prstGeom prst="rightArrow">
            <a:avLst/>
          </a:prstGeom>
          <a:solidFill>
            <a:srgbClr val="3A3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12801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KEY DECISIONS &amp; NEXT STEPS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914400"/>
            <a:ext cx="12801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FFFFFF"/>
                </a:solidFill>
              </a:defRPr>
            </a:pPr>
            <a:r>
              <a:t>What needs to be decided now.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2011680"/>
            <a:ext cx="6400800" cy="5303520"/>
          </a:xfrm>
          <a:prstGeom prst="roundRect">
            <a:avLst>
              <a:gd name="adj" fmla="val 3000"/>
            </a:avLst>
          </a:prstGeom>
          <a:solidFill>
            <a:srgbClr val="1414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2194560"/>
            <a:ext cx="5852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2000" b="1">
                <a:solidFill>
                  <a:srgbClr val="F59E0B"/>
                </a:solidFill>
              </a:defRPr>
            </a:pPr>
            <a:r>
              <a:t>🔑  Key Decisions</a:t>
            </a:r>
          </a:p>
          <a:p>
            <a:pPr>
              <a:spcAft>
                <a:spcPts val="400"/>
              </a:spcAft>
              <a:defRPr sz="600" b="0">
                <a:solidFill>
                  <a:srgbClr val="94A3B8"/>
                </a:solidFill>
              </a:defRPr>
            </a:pPr>
          </a:p>
          <a:p>
            <a:pPr>
              <a:spcAft>
                <a:spcPts val="400"/>
              </a:spcAft>
              <a:defRPr sz="1600" b="1">
                <a:solidFill>
                  <a:srgbClr val="FFFFFF"/>
                </a:solidFill>
              </a:defRPr>
            </a:pPr>
            <a:r>
              <a:t>1. Custodial Broker</a:t>
            </a:r>
          </a:p>
          <a:p>
            <a:pPr>
              <a:spcAft>
                <a:spcPts val="400"/>
              </a:spcAft>
              <a:defRPr sz="1300" b="0">
                <a:solidFill>
                  <a:srgbClr val="94A3B8"/>
                </a:solidFill>
              </a:defRPr>
            </a:pPr>
            <a:r>
              <a:t>Who holds the DFM/ADX shares for the SPV? Need a broker with</a:t>
            </a:r>
          </a:p>
          <a:p>
            <a:pPr>
              <a:spcAft>
                <a:spcPts val="400"/>
              </a:spcAft>
              <a:defRPr sz="1300" b="0">
                <a:solidFill>
                  <a:srgbClr val="94A3B8"/>
                </a:solidFill>
              </a:defRPr>
            </a:pPr>
            <a:r>
              <a:t>UAE market access that's comfortable with a crypto-linked entity.</a:t>
            </a:r>
          </a:p>
          <a:p>
            <a:pPr>
              <a:spcAft>
                <a:spcPts val="400"/>
              </a:spcAft>
              <a:defRPr sz="600" b="0">
                <a:solidFill>
                  <a:srgbClr val="94A3B8"/>
                </a:solidFill>
              </a:defRPr>
            </a:pPr>
          </a:p>
          <a:p>
            <a:pPr>
              <a:spcAft>
                <a:spcPts val="400"/>
              </a:spcAft>
              <a:defRPr sz="1600" b="1">
                <a:solidFill>
                  <a:srgbClr val="FFFFFF"/>
                </a:solidFill>
              </a:defRPr>
            </a:pPr>
            <a:r>
              <a:t>2. NAV &amp; Redemption Mechanism</a:t>
            </a:r>
          </a:p>
          <a:p>
            <a:pPr>
              <a:spcAft>
                <a:spcPts val="400"/>
              </a:spcAft>
              <a:defRPr sz="1300" b="0">
                <a:solidFill>
                  <a:srgbClr val="94A3B8"/>
                </a:solidFill>
              </a:defRPr>
            </a:pPr>
            <a:r>
              <a:t>How do token holders redeem for underlying? Ondo uses authorized</a:t>
            </a:r>
          </a:p>
          <a:p>
            <a:pPr>
              <a:spcAft>
                <a:spcPts val="400"/>
              </a:spcAft>
              <a:defRPr sz="1300" b="0">
                <a:solidFill>
                  <a:srgbClr val="94A3B8"/>
                </a:solidFill>
              </a:defRPr>
            </a:pPr>
            <a:r>
              <a:t>participants (like ETFs). We need a similar mechanism.</a:t>
            </a:r>
          </a:p>
          <a:p>
            <a:pPr>
              <a:spcAft>
                <a:spcPts val="400"/>
              </a:spcAft>
              <a:defRPr sz="600" b="0">
                <a:solidFill>
                  <a:srgbClr val="94A3B8"/>
                </a:solidFill>
              </a:defRPr>
            </a:pPr>
          </a:p>
          <a:p>
            <a:pPr>
              <a:spcAft>
                <a:spcPts val="400"/>
              </a:spcAft>
              <a:defRPr sz="1600" b="1">
                <a:solidFill>
                  <a:srgbClr val="FFFFFF"/>
                </a:solidFill>
              </a:defRPr>
            </a:pPr>
            <a:r>
              <a:t>3. Price Oracle</a:t>
            </a:r>
          </a:p>
          <a:p>
            <a:pPr>
              <a:spcAft>
                <a:spcPts val="400"/>
              </a:spcAft>
              <a:defRPr sz="1300" b="0">
                <a:solidFill>
                  <a:srgbClr val="94A3B8"/>
                </a:solidFill>
              </a:defRPr>
            </a:pPr>
            <a:r>
              <a:t>Who feeds DFM/ADX prices onchain? Pyth? Switchboard? Custom?</a:t>
            </a:r>
          </a:p>
          <a:p>
            <a:pPr>
              <a:spcAft>
                <a:spcPts val="400"/>
              </a:spcAft>
              <a:defRPr sz="1300" b="0">
                <a:solidFill>
                  <a:srgbClr val="94A3B8"/>
                </a:solidFill>
              </a:defRPr>
            </a:pPr>
            <a:r>
              <a:t>DFM/ADX close at 3 PM — what happens with 24/7 token trading?</a:t>
            </a:r>
          </a:p>
          <a:p>
            <a:pPr>
              <a:spcAft>
                <a:spcPts val="400"/>
              </a:spcAft>
              <a:defRPr sz="600" b="0">
                <a:solidFill>
                  <a:srgbClr val="94A3B8"/>
                </a:solidFill>
              </a:defRPr>
            </a:pPr>
          </a:p>
          <a:p>
            <a:pPr>
              <a:spcAft>
                <a:spcPts val="400"/>
              </a:spcAft>
              <a:defRPr sz="1600" b="1">
                <a:solidFill>
                  <a:srgbClr val="FFFFFF"/>
                </a:solidFill>
              </a:defRPr>
            </a:pPr>
            <a:r>
              <a:t>4. Regulatory Counsel</a:t>
            </a:r>
          </a:p>
          <a:p>
            <a:pPr>
              <a:spcAft>
                <a:spcPts val="400"/>
              </a:spcAft>
              <a:defRPr sz="1300" b="0">
                <a:solidFill>
                  <a:srgbClr val="94A3B8"/>
                </a:solidFill>
              </a:defRPr>
            </a:pPr>
            <a:r>
              <a:t>BVI counsel for SPV formation + token legal opinion.</a:t>
            </a:r>
          </a:p>
          <a:p>
            <a:pPr>
              <a:spcAft>
                <a:spcPts val="400"/>
              </a:spcAft>
              <a:defRPr sz="1300" b="0">
                <a:solidFill>
                  <a:srgbClr val="94A3B8"/>
                </a:solidFill>
              </a:defRPr>
            </a:pPr>
            <a:r>
              <a:t>Confirm tokens classify as 'notes' not 'securities' in BVI.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498079" y="2011680"/>
            <a:ext cx="6400800" cy="5303520"/>
          </a:xfrm>
          <a:prstGeom prst="roundRect">
            <a:avLst>
              <a:gd name="adj" fmla="val 3000"/>
            </a:avLst>
          </a:prstGeom>
          <a:solidFill>
            <a:srgbClr val="1414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0" y="2194560"/>
            <a:ext cx="5852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2000" b="1">
                <a:solidFill>
                  <a:srgbClr val="10B981"/>
                </a:solidFill>
              </a:defRPr>
            </a:pPr>
            <a:r>
              <a:t>⚡  Immediate Next Steps</a:t>
            </a:r>
          </a:p>
          <a:p>
            <a:pPr>
              <a:spcAft>
                <a:spcPts val="400"/>
              </a:spcAft>
              <a:defRPr sz="600" b="0">
                <a:solidFill>
                  <a:srgbClr val="94A3B8"/>
                </a:solidFill>
              </a:defRPr>
            </a:pPr>
          </a:p>
          <a:p>
            <a:pPr>
              <a:spcAft>
                <a:spcPts val="400"/>
              </a:spcAft>
              <a:defRPr sz="1600" b="0">
                <a:solidFill>
                  <a:srgbClr val="FFFFFF"/>
                </a:solidFill>
              </a:defRPr>
            </a:pPr>
            <a:r>
              <a:t>□  Get BVI counsel quote for SPV formation</a:t>
            </a:r>
          </a:p>
          <a:p>
            <a:pPr>
              <a:spcAft>
                <a:spcPts val="400"/>
              </a:spcAft>
              <a:defRPr sz="1300" b="0">
                <a:solidFill>
                  <a:srgbClr val="94A3B8"/>
                </a:solidFill>
              </a:defRPr>
            </a:pPr>
            <a:r>
              <a:t>    Timeline: 1-2 weeks once engaged</a:t>
            </a:r>
          </a:p>
          <a:p>
            <a:pPr>
              <a:spcAft>
                <a:spcPts val="400"/>
              </a:spcAft>
              <a:defRPr sz="600" b="0">
                <a:solidFill>
                  <a:srgbClr val="94A3B8"/>
                </a:solidFill>
              </a:defRPr>
            </a:pPr>
          </a:p>
          <a:p>
            <a:pPr>
              <a:spcAft>
                <a:spcPts val="400"/>
              </a:spcAft>
              <a:defRPr sz="1600" b="0">
                <a:solidFill>
                  <a:srgbClr val="FFFFFF"/>
                </a:solidFill>
              </a:defRPr>
            </a:pPr>
            <a:r>
              <a:t>□  Identify custodial broker</a:t>
            </a:r>
          </a:p>
          <a:p>
            <a:pPr>
              <a:spcAft>
                <a:spcPts val="400"/>
              </a:spcAft>
              <a:defRPr sz="1300" b="0">
                <a:solidFill>
                  <a:srgbClr val="94A3B8"/>
                </a:solidFill>
              </a:defRPr>
            </a:pPr>
            <a:r>
              <a:t>    Explore: Bahrain exchange, IBKR, Saxo</a:t>
            </a:r>
          </a:p>
          <a:p>
            <a:pPr>
              <a:spcAft>
                <a:spcPts val="400"/>
              </a:spcAft>
              <a:defRPr sz="600" b="0">
                <a:solidFill>
                  <a:srgbClr val="94A3B8"/>
                </a:solidFill>
              </a:defRPr>
            </a:pPr>
          </a:p>
          <a:p>
            <a:pPr>
              <a:spcAft>
                <a:spcPts val="400"/>
              </a:spcAft>
              <a:defRPr sz="1600" b="0">
                <a:solidFill>
                  <a:srgbClr val="FFFFFF"/>
                </a:solidFill>
              </a:defRPr>
            </a:pPr>
            <a:r>
              <a:t>□  Draft Solana token program spec</a:t>
            </a:r>
          </a:p>
          <a:p>
            <a:pPr>
              <a:spcAft>
                <a:spcPts val="400"/>
              </a:spcAft>
              <a:defRPr sz="1300" b="0">
                <a:solidFill>
                  <a:srgbClr val="94A3B8"/>
                </a:solidFill>
              </a:defRPr>
            </a:pPr>
            <a:r>
              <a:t>    SPL token + mint authority + oracle integration</a:t>
            </a:r>
          </a:p>
          <a:p>
            <a:pPr>
              <a:spcAft>
                <a:spcPts val="400"/>
              </a:spcAft>
              <a:defRPr sz="600" b="0">
                <a:solidFill>
                  <a:srgbClr val="94A3B8"/>
                </a:solidFill>
              </a:defRPr>
            </a:pPr>
          </a:p>
          <a:p>
            <a:pPr>
              <a:spcAft>
                <a:spcPts val="400"/>
              </a:spcAft>
              <a:defRPr sz="1600" b="0">
                <a:solidFill>
                  <a:srgbClr val="FFFFFF"/>
                </a:solidFill>
              </a:defRPr>
            </a:pPr>
            <a:r>
              <a:t>□  Legal opinion on token classification</a:t>
            </a:r>
          </a:p>
          <a:p>
            <a:pPr>
              <a:spcAft>
                <a:spcPts val="400"/>
              </a:spcAft>
              <a:defRPr sz="1300" b="0">
                <a:solidFill>
                  <a:srgbClr val="94A3B8"/>
                </a:solidFill>
              </a:defRPr>
            </a:pPr>
            <a:r>
              <a:t>    Required before any token issuance</a:t>
            </a:r>
          </a:p>
          <a:p>
            <a:pPr>
              <a:spcAft>
                <a:spcPts val="400"/>
              </a:spcAft>
              <a:defRPr sz="600" b="0">
                <a:solidFill>
                  <a:srgbClr val="94A3B8"/>
                </a:solidFill>
              </a:defRPr>
            </a:pPr>
          </a:p>
          <a:p>
            <a:pPr>
              <a:spcAft>
                <a:spcPts val="400"/>
              </a:spcAft>
              <a:defRPr sz="1600" b="0">
                <a:solidFill>
                  <a:srgbClr val="FFFFFF"/>
                </a:solidFill>
              </a:defRPr>
            </a:pPr>
            <a:r>
              <a:t>□  Seed investor outreach</a:t>
            </a:r>
          </a:p>
          <a:p>
            <a:pPr>
              <a:spcAft>
                <a:spcPts val="400"/>
              </a:spcAft>
              <a:defRPr sz="1300" b="0">
                <a:solidFill>
                  <a:srgbClr val="94A3B8"/>
                </a:solidFill>
              </a:defRPr>
            </a:pPr>
            <a:r>
              <a:t>    dubaidip.xyz waitlist → first subscribers</a:t>
            </a:r>
          </a:p>
          <a:p>
            <a:pPr>
              <a:spcAft>
                <a:spcPts val="400"/>
              </a:spcAft>
              <a:defRPr sz="600" b="0">
                <a:solidFill>
                  <a:srgbClr val="94A3B8"/>
                </a:solidFill>
              </a:defRPr>
            </a:pPr>
          </a:p>
          <a:p>
            <a:pPr>
              <a:spcAft>
                <a:spcPts val="400"/>
              </a:spcAft>
              <a:defRPr sz="1600" b="0">
                <a:solidFill>
                  <a:srgbClr val="FFFFFF"/>
                </a:solidFill>
              </a:defRPr>
            </a:pPr>
            <a:r>
              <a:t>□  Approach exchange partners (Phase 2)</a:t>
            </a:r>
          </a:p>
          <a:p>
            <a:pPr>
              <a:spcAft>
                <a:spcPts val="400"/>
              </a:spcAft>
              <a:defRPr sz="1300" b="0">
                <a:solidFill>
                  <a:srgbClr val="94A3B8"/>
                </a:solidFill>
              </a:defRPr>
            </a:pPr>
            <a:r>
              <a:t>    Bybit / Bahrain exchange / lawyer's clients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0" y="7772400"/>
            <a:ext cx="14630400" cy="27432"/>
          </a:xfrm>
          <a:prstGeom prst="roundRect">
            <a:avLst>
              <a:gd name="adj" fmla="val 3000"/>
            </a:avLst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7818120"/>
            <a:ext cx="1280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94A3B8"/>
                </a:solidFill>
              </a:defRPr>
            </a:pPr>
            <a:r>
              <a:t>dubaidip.xyz  •  Confidential  •  March 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